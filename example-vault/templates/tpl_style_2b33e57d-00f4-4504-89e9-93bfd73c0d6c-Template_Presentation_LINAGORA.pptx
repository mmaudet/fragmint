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NAGO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41E2C"/>
          </a:solidFill>
          <a:ln/>
        </p:spPr>
      </p:sp>
      <p:sp>
        <p:nvSpPr>
          <p:cNvPr id="3" name="Shape 1"/>
          <p:cNvSpPr/>
          <p:nvPr/>
        </p:nvSpPr>
        <p:spPr>
          <a:xfrm>
            <a:off x="0" y="6400800"/>
            <a:ext cx="12191695" cy="457200"/>
          </a:xfrm>
          <a:prstGeom prst="rect">
            <a:avLst/>
          </a:prstGeom>
          <a:solidFill>
            <a:srgbClr val="B41E2C"/>
          </a:solidFill>
          <a:ln/>
        </p:spPr>
      </p:sp>
      <p:pic>
        <p:nvPicPr>
          <p:cNvPr id="4" name="Image 0" descr="/home/claude/work/linagora-logo2.png">    </p:cNvPr>
          <p:cNvPicPr>
            <a:picLocks noChangeAspect="1"/>
          </p:cNvPicPr>
          <p:nvPr/>
        </p:nvPicPr>
        <p:blipFill>
          <a:blip r:embed="rId1"/>
          <a:stretch>
            <a:fillRect/>
          </a:stretch>
        </p:blipFill>
        <p:spPr>
          <a:xfrm>
            <a:off x="274320" y="6492240"/>
            <a:ext cx="1097280" cy="274320"/>
          </a:xfrm>
          <a:prstGeom prst="rect">
            <a:avLst/>
          </a:prstGeom>
        </p:spPr>
      </p:pic>
      <p:sp>
        <p:nvSpPr>
          <p:cNvPr id="5" name="Text 2"/>
          <p:cNvSpPr/>
          <p:nvPr/>
        </p:nvSpPr>
        <p:spPr>
          <a:xfrm>
            <a:off x="4114800" y="6510528"/>
            <a:ext cx="4114800" cy="228600"/>
          </a:xfrm>
          <a:prstGeom prst="rect">
            <a:avLst/>
          </a:prstGeom>
          <a:noFill/>
          <a:ln/>
        </p:spPr>
        <p:txBody>
          <a:bodyPr wrap="square" rtlCol="0" anchor="ctr"/>
          <a:lstStyle/>
          <a:p>
            <a:pPr algn="ctr" indent="0" marL="0">
              <a:buNone/>
            </a:pPr>
            <a:r>
              <a:rPr lang="en-US" sz="900" i="1" dirty="0">
                <a:solidFill>
                  <a:srgbClr val="FFFFFF"/>
                </a:solidFill>
                <a:latin typeface="Calibri" pitchFamily="34" charset="0"/>
                <a:ea typeface="Calibri" pitchFamily="34" charset="-122"/>
                <a:cs typeface="Calibri" pitchFamily="34" charset="-120"/>
              </a:rPr>
              <a:t>Distribution non autorisée interdite sans accord écrit.</a:t>
            </a:r>
            <a:endParaRPr lang="en-US" sz="900" dirty="0"/>
          </a:p>
        </p:txBody>
      </p:sp>
      <p:sp>
        <p:nvSpPr>
          <p:cNvPr id="6" name="Text 3"/>
          <p:cNvSpPr/>
          <p:nvPr/>
        </p:nvSpPr>
        <p:spPr>
          <a:xfrm>
            <a:off x="10058400" y="6510528"/>
            <a:ext cx="1645920" cy="228600"/>
          </a:xfrm>
          <a:prstGeom prst="rect">
            <a:avLst/>
          </a:prstGeom>
          <a:noFill/>
          <a:ln/>
        </p:spPr>
        <p:txBody>
          <a:bodyPr wrap="square"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Page</a:t>
            </a:r>
            <a:endParaRPr lang="en-US" sz="900" dirty="0"/>
          </a:p>
        </p:txBody>
      </p:sp>
      <p:sp>
        <p:nvSpPr>
          <p:cNvPr id="25" name="Slide Number Placeholder 0"/>
          <p:cNvSpPr>
            <a:spLocks noGrp="1"/>
          </p:cNvSpPr>
          <p:nvPr>
            <p:ph type="sldNum" sz="quarter" idx="4294967295"/>
          </p:nvPr>
        </p:nvSpPr>
        <p:spPr>
          <a:xfrm>
            <a:off x="11521440" y="6510528"/>
            <a:ext cx="457200" cy="22860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Calibri"/>
                <a:ea typeface="Calibri"/>
                <a:cs typeface="Calibri"/>
              </a:defRPr>
            </a:lvl1pPr>
          </a:lstStyle>
          <a:p>
            <a:pPr algn="l"/>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NAGORA_COV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B41E2C"/>
          </a:solidFill>
          <a:ln/>
        </p:spPr>
      </p:sp>
      <p:pic>
        <p:nvPicPr>
          <p:cNvPr id="3" name="Image 0" descr="/home/claude/work/linagora-logo2.png">    </p:cNvPr>
          <p:cNvPicPr>
            <a:picLocks noChangeAspect="1"/>
          </p:cNvPicPr>
          <p:nvPr/>
        </p:nvPicPr>
        <p:blipFill>
          <a:blip r:embed="rId1"/>
          <a:stretch>
            <a:fillRect/>
          </a:stretch>
        </p:blipFill>
        <p:spPr>
          <a:xfrm>
            <a:off x="457200" y="365760"/>
            <a:ext cx="2286000" cy="640080"/>
          </a:xfrm>
          <a:prstGeom prst="rect">
            <a:avLst/>
          </a:prstGeom>
        </p:spPr>
      </p:pic>
      <p:sp>
        <p:nvSpPr>
          <p:cNvPr id="4" name="Shape 1"/>
          <p:cNvSpPr/>
          <p:nvPr/>
        </p:nvSpPr>
        <p:spPr>
          <a:xfrm>
            <a:off x="0" y="6675120"/>
            <a:ext cx="12191695" cy="182880"/>
          </a:xfrm>
          <a:prstGeom prst="rect">
            <a:avLst/>
          </a:prstGeom>
          <a:solidFill>
            <a:srgbClr val="B41E2C"/>
          </a:solidFill>
          <a:ln/>
        </p:spPr>
      </p:sp>
      <p:sp>
        <p:nvSpPr>
          <p:cNvPr id="5" name="Text 2"/>
          <p:cNvSpPr/>
          <p:nvPr/>
        </p:nvSpPr>
        <p:spPr>
          <a:xfrm>
            <a:off x="457200" y="6217920"/>
            <a:ext cx="11247120" cy="36576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LINAGORA SAS au capital de 1 552 980 € — 37, rue Pierre Poli — 92130 ISSY-LES-MOULINEAUX — FRANCE</a:t>
            </a:r>
            <a:endParaRPr lang="en-US" sz="800" dirty="0"/>
          </a:p>
          <a:p>
            <a:pPr algn="ctr" indent="0" marL="0">
              <a:buNone/>
            </a:pPr>
            <a:r>
              <a:rPr lang="en-US" sz="800" dirty="0">
                <a:solidFill>
                  <a:srgbClr val="888888"/>
                </a:solidFill>
                <a:latin typeface="Calibri" pitchFamily="34" charset="0"/>
                <a:ea typeface="Calibri" pitchFamily="34" charset="-122"/>
                <a:cs typeface="Calibri" pitchFamily="34" charset="-120"/>
              </a:rPr>
              <a:t>Tél. +33 1 46 96 63 63 — RCS Nanterre B 431 473 669 00130 — TVA FR 57 431 473 669 00130</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510528"/>
            <a:ext cx="457200" cy="22860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Calibri"/>
                <a:ea typeface="Calibri"/>
                <a:cs typeface="Calibri"/>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2560320"/>
            <a:ext cx="10362895" cy="914400"/>
          </a:xfrm>
          <a:prstGeom prst="rect">
            <a:avLst/>
          </a:prstGeom>
          <a:noFill/>
          <a:ln/>
        </p:spPr>
        <p:txBody>
          <a:bodyPr wrap="square" rtlCol="0" anchor="ctr"/>
          <a:lstStyle/>
          <a:p>
            <a:pPr algn="ctr" indent="0" marL="0">
              <a:buNone/>
            </a:pPr>
            <a:r>
              <a:rPr lang="en-US" sz="4400" b="1" dirty="0">
                <a:solidFill>
                  <a:srgbClr val="B41E2C"/>
                </a:solidFill>
                <a:latin typeface="Calibri" pitchFamily="34" charset="0"/>
                <a:ea typeface="Calibri" pitchFamily="34" charset="-122"/>
                <a:cs typeface="Calibri" pitchFamily="34" charset="-120"/>
              </a:rPr>
              <a:t>TITRE DE LA PRÉSENTATION</a:t>
            </a:r>
            <a:endParaRPr lang="en-US" sz="4400" dirty="0"/>
          </a:p>
        </p:txBody>
      </p:sp>
      <p:sp>
        <p:nvSpPr>
          <p:cNvPr id="3" name="Text 1"/>
          <p:cNvSpPr/>
          <p:nvPr/>
        </p:nvSpPr>
        <p:spPr>
          <a:xfrm>
            <a:off x="914400" y="3566160"/>
            <a:ext cx="10362895" cy="548640"/>
          </a:xfrm>
          <a:prstGeom prst="rect">
            <a:avLst/>
          </a:prstGeom>
          <a:noFill/>
          <a:ln/>
        </p:spPr>
        <p:txBody>
          <a:bodyPr wrap="square" rtlCol="0" anchor="ctr"/>
          <a:lstStyle/>
          <a:p>
            <a:pPr algn="ctr" indent="0" marL="0">
              <a:buNone/>
            </a:pPr>
            <a:r>
              <a:rPr lang="en-US" sz="2200" dirty="0">
                <a:solidFill>
                  <a:srgbClr val="333333"/>
                </a:solidFill>
                <a:latin typeface="Calibri" pitchFamily="34" charset="0"/>
                <a:ea typeface="Calibri" pitchFamily="34" charset="-122"/>
                <a:cs typeface="Calibri" pitchFamily="34" charset="-120"/>
              </a:rPr>
              <a:t>Sous-titre ou description courte</a:t>
            </a:r>
            <a:endParaRPr lang="en-US" sz="2200" dirty="0"/>
          </a:p>
        </p:txBody>
      </p:sp>
      <p:sp>
        <p:nvSpPr>
          <p:cNvPr id="4" name="Shape 2"/>
          <p:cNvSpPr/>
          <p:nvPr/>
        </p:nvSpPr>
        <p:spPr>
          <a:xfrm>
            <a:off x="5486400" y="4297680"/>
            <a:ext cx="1218895" cy="45720"/>
          </a:xfrm>
          <a:prstGeom prst="rect">
            <a:avLst/>
          </a:prstGeom>
          <a:solidFill>
            <a:srgbClr val="B41E2C"/>
          </a:solidFill>
          <a:ln/>
        </p:spPr>
      </p:sp>
      <p:sp>
        <p:nvSpPr>
          <p:cNvPr id="5" name="Text 3"/>
          <p:cNvSpPr/>
          <p:nvPr/>
        </p:nvSpPr>
        <p:spPr>
          <a:xfrm>
            <a:off x="914400" y="4572000"/>
            <a:ext cx="10362895" cy="365760"/>
          </a:xfrm>
          <a:prstGeom prst="rect">
            <a:avLst/>
          </a:prstGeom>
          <a:noFill/>
          <a:ln/>
        </p:spPr>
        <p:txBody>
          <a:bodyPr wrap="square" rtlCol="0" anchor="ctr"/>
          <a:lstStyle/>
          <a:p>
            <a:pPr algn="ctr" indent="0" marL="0">
              <a:buNone/>
            </a:pPr>
            <a:r>
              <a:rPr lang="en-US" sz="1600" i="1" dirty="0">
                <a:solidFill>
                  <a:srgbClr val="888888"/>
                </a:solidFill>
                <a:latin typeface="Calibri" pitchFamily="34" charset="0"/>
                <a:ea typeface="Calibri" pitchFamily="34" charset="-122"/>
                <a:cs typeface="Calibri" pitchFamily="34" charset="-120"/>
              </a:rPr>
              <a:t>Auteur · Date · Référence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11277295" cy="731520"/>
          </a:xfrm>
          <a:prstGeom prst="rect">
            <a:avLst/>
          </a:prstGeom>
          <a:noFill/>
          <a:ln/>
        </p:spPr>
        <p:txBody>
          <a:bodyPr wrap="square" rtlCol="0" anchor="ctr"/>
          <a:lstStyle/>
          <a:p>
            <a:pPr algn="l" indent="0" marL="0">
              <a:buNone/>
            </a:pPr>
            <a:r>
              <a:rPr lang="en-US" sz="3600" b="1" dirty="0">
                <a:solidFill>
                  <a:srgbClr val="B41E2C"/>
                </a:solidFill>
                <a:latin typeface="Calibri" pitchFamily="34" charset="0"/>
                <a:ea typeface="Calibri" pitchFamily="34" charset="-122"/>
                <a:cs typeface="Calibri" pitchFamily="34" charset="-120"/>
              </a:rPr>
              <a:t>Sommaire</a:t>
            </a:r>
            <a:endParaRPr lang="en-US" sz="3600" dirty="0"/>
          </a:p>
        </p:txBody>
      </p:sp>
      <p:sp>
        <p:nvSpPr>
          <p:cNvPr id="3" name="Shape 1"/>
          <p:cNvSpPr/>
          <p:nvPr/>
        </p:nvSpPr>
        <p:spPr>
          <a:xfrm>
            <a:off x="457200" y="1234440"/>
            <a:ext cx="1828800" cy="36576"/>
          </a:xfrm>
          <a:prstGeom prst="rect">
            <a:avLst/>
          </a:prstGeom>
          <a:solidFill>
            <a:srgbClr val="B41E2C"/>
          </a:solidFill>
          <a:ln/>
        </p:spPr>
      </p:sp>
      <p:sp>
        <p:nvSpPr>
          <p:cNvPr id="4" name="Text 2"/>
          <p:cNvSpPr/>
          <p:nvPr/>
        </p:nvSpPr>
        <p:spPr>
          <a:xfrm>
            <a:off x="914400" y="1828800"/>
            <a:ext cx="548640" cy="457200"/>
          </a:xfrm>
          <a:prstGeom prst="rect">
            <a:avLst/>
          </a:prstGeom>
          <a:noFill/>
          <a:ln/>
        </p:spPr>
        <p:txBody>
          <a:bodyPr wrap="square" rtlCol="0" anchor="ctr"/>
          <a:lstStyle/>
          <a:p>
            <a:pPr algn="l" indent="0" marL="0">
              <a:buNone/>
            </a:pPr>
            <a:r>
              <a:rPr lang="en-US" sz="2000" b="1" dirty="0">
                <a:solidFill>
                  <a:srgbClr val="B41E2C"/>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554480" y="1828800"/>
            <a:ext cx="10058400" cy="457200"/>
          </a:xfrm>
          <a:prstGeom prst="rect">
            <a:avLst/>
          </a:prstGeom>
          <a:noFill/>
          <a:ln/>
        </p:spPr>
        <p:txBody>
          <a:bodyPr wrap="square" rtlCol="0" anchor="ctr"/>
          <a:lstStyle/>
          <a:p>
            <a:pPr algn="l" indent="0" marL="0">
              <a:buNone/>
            </a:pPr>
            <a:r>
              <a:rPr lang="en-US" sz="1800" dirty="0">
                <a:solidFill>
                  <a:srgbClr val="333333"/>
                </a:solidFill>
                <a:latin typeface="Calibri" pitchFamily="34" charset="0"/>
                <a:ea typeface="Calibri" pitchFamily="34" charset="-122"/>
                <a:cs typeface="Calibri" pitchFamily="34" charset="-120"/>
              </a:rPr>
              <a:t>Contexte et objectifs</a:t>
            </a:r>
            <a:endParaRPr lang="en-US" sz="1800" dirty="0"/>
          </a:p>
        </p:txBody>
      </p:sp>
      <p:sp>
        <p:nvSpPr>
          <p:cNvPr id="6" name="Text 4"/>
          <p:cNvSpPr/>
          <p:nvPr/>
        </p:nvSpPr>
        <p:spPr>
          <a:xfrm>
            <a:off x="914400" y="2468880"/>
            <a:ext cx="548640" cy="457200"/>
          </a:xfrm>
          <a:prstGeom prst="rect">
            <a:avLst/>
          </a:prstGeom>
          <a:noFill/>
          <a:ln/>
        </p:spPr>
        <p:txBody>
          <a:bodyPr wrap="square" rtlCol="0" anchor="ctr"/>
          <a:lstStyle/>
          <a:p>
            <a:pPr algn="l" indent="0" marL="0">
              <a:buNone/>
            </a:pPr>
            <a:r>
              <a:rPr lang="en-US" sz="2000" b="1" dirty="0">
                <a:solidFill>
                  <a:srgbClr val="B41E2C"/>
                </a:solidFill>
                <a:latin typeface="Calibri" pitchFamily="34" charset="0"/>
                <a:ea typeface="Calibri" pitchFamily="34" charset="-122"/>
                <a:cs typeface="Calibri" pitchFamily="34" charset="-120"/>
              </a:rPr>
              <a:t>2.</a:t>
            </a:r>
            <a:endParaRPr lang="en-US" sz="2000" dirty="0"/>
          </a:p>
        </p:txBody>
      </p:sp>
      <p:sp>
        <p:nvSpPr>
          <p:cNvPr id="7" name="Text 5"/>
          <p:cNvSpPr/>
          <p:nvPr/>
        </p:nvSpPr>
        <p:spPr>
          <a:xfrm>
            <a:off x="1554480" y="2468880"/>
            <a:ext cx="10058400" cy="457200"/>
          </a:xfrm>
          <a:prstGeom prst="rect">
            <a:avLst/>
          </a:prstGeom>
          <a:noFill/>
          <a:ln/>
        </p:spPr>
        <p:txBody>
          <a:bodyPr wrap="square" rtlCol="0" anchor="ctr"/>
          <a:lstStyle/>
          <a:p>
            <a:pPr algn="l" indent="0" marL="0">
              <a:buNone/>
            </a:pPr>
            <a:r>
              <a:rPr lang="en-US" sz="1800" dirty="0">
                <a:solidFill>
                  <a:srgbClr val="333333"/>
                </a:solidFill>
                <a:latin typeface="Calibri" pitchFamily="34" charset="0"/>
                <a:ea typeface="Calibri" pitchFamily="34" charset="-122"/>
                <a:cs typeface="Calibri" pitchFamily="34" charset="-120"/>
              </a:rPr>
              <a:t>LINAGORA, acteur souverain du Logiciel Libre</a:t>
            </a:r>
            <a:endParaRPr lang="en-US" sz="1800" dirty="0"/>
          </a:p>
        </p:txBody>
      </p:sp>
      <p:sp>
        <p:nvSpPr>
          <p:cNvPr id="8" name="Text 6"/>
          <p:cNvSpPr/>
          <p:nvPr/>
        </p:nvSpPr>
        <p:spPr>
          <a:xfrm>
            <a:off x="914400" y="3108960"/>
            <a:ext cx="548640" cy="457200"/>
          </a:xfrm>
          <a:prstGeom prst="rect">
            <a:avLst/>
          </a:prstGeom>
          <a:noFill/>
          <a:ln/>
        </p:spPr>
        <p:txBody>
          <a:bodyPr wrap="square" rtlCol="0" anchor="ctr"/>
          <a:lstStyle/>
          <a:p>
            <a:pPr algn="l" indent="0" marL="0">
              <a:buNone/>
            </a:pPr>
            <a:r>
              <a:rPr lang="en-US" sz="2000" b="1" dirty="0">
                <a:solidFill>
                  <a:srgbClr val="B41E2C"/>
                </a:solidFill>
                <a:latin typeface="Calibri" pitchFamily="34" charset="0"/>
                <a:ea typeface="Calibri" pitchFamily="34" charset="-122"/>
                <a:cs typeface="Calibri" pitchFamily="34" charset="-120"/>
              </a:rPr>
              <a:t>3.</a:t>
            </a:r>
            <a:endParaRPr lang="en-US" sz="2000" dirty="0"/>
          </a:p>
        </p:txBody>
      </p:sp>
      <p:sp>
        <p:nvSpPr>
          <p:cNvPr id="9" name="Text 7"/>
          <p:cNvSpPr/>
          <p:nvPr/>
        </p:nvSpPr>
        <p:spPr>
          <a:xfrm>
            <a:off x="1554480" y="3108960"/>
            <a:ext cx="10058400" cy="457200"/>
          </a:xfrm>
          <a:prstGeom prst="rect">
            <a:avLst/>
          </a:prstGeom>
          <a:noFill/>
          <a:ln/>
        </p:spPr>
        <p:txBody>
          <a:bodyPr wrap="square" rtlCol="0" anchor="ctr"/>
          <a:lstStyle/>
          <a:p>
            <a:pPr algn="l" indent="0" marL="0">
              <a:buNone/>
            </a:pPr>
            <a:r>
              <a:rPr lang="en-US" sz="1800" dirty="0">
                <a:solidFill>
                  <a:srgbClr val="333333"/>
                </a:solidFill>
                <a:latin typeface="Calibri" pitchFamily="34" charset="0"/>
                <a:ea typeface="Calibri" pitchFamily="34" charset="-122"/>
                <a:cs typeface="Calibri" pitchFamily="34" charset="-120"/>
              </a:rPr>
              <a:t>Description de la solution</a:t>
            </a:r>
            <a:endParaRPr lang="en-US" sz="1800" dirty="0"/>
          </a:p>
        </p:txBody>
      </p:sp>
      <p:sp>
        <p:nvSpPr>
          <p:cNvPr id="10" name="Text 8"/>
          <p:cNvSpPr/>
          <p:nvPr/>
        </p:nvSpPr>
        <p:spPr>
          <a:xfrm>
            <a:off x="914400" y="3749040"/>
            <a:ext cx="548640" cy="457200"/>
          </a:xfrm>
          <a:prstGeom prst="rect">
            <a:avLst/>
          </a:prstGeom>
          <a:noFill/>
          <a:ln/>
        </p:spPr>
        <p:txBody>
          <a:bodyPr wrap="square" rtlCol="0" anchor="ctr"/>
          <a:lstStyle/>
          <a:p>
            <a:pPr algn="l" indent="0" marL="0">
              <a:buNone/>
            </a:pPr>
            <a:r>
              <a:rPr lang="en-US" sz="2000" b="1" dirty="0">
                <a:solidFill>
                  <a:srgbClr val="B41E2C"/>
                </a:solidFill>
                <a:latin typeface="Calibri" pitchFamily="34" charset="0"/>
                <a:ea typeface="Calibri" pitchFamily="34" charset="-122"/>
                <a:cs typeface="Calibri" pitchFamily="34" charset="-120"/>
              </a:rPr>
              <a:t>4.</a:t>
            </a:r>
            <a:endParaRPr lang="en-US" sz="2000" dirty="0"/>
          </a:p>
        </p:txBody>
      </p:sp>
      <p:sp>
        <p:nvSpPr>
          <p:cNvPr id="11" name="Text 9"/>
          <p:cNvSpPr/>
          <p:nvPr/>
        </p:nvSpPr>
        <p:spPr>
          <a:xfrm>
            <a:off x="1554480" y="3749040"/>
            <a:ext cx="10058400" cy="457200"/>
          </a:xfrm>
          <a:prstGeom prst="rect">
            <a:avLst/>
          </a:prstGeom>
          <a:noFill/>
          <a:ln/>
        </p:spPr>
        <p:txBody>
          <a:bodyPr wrap="square" rtlCol="0" anchor="ctr"/>
          <a:lstStyle/>
          <a:p>
            <a:pPr algn="l" indent="0" marL="0">
              <a:buNone/>
            </a:pPr>
            <a:r>
              <a:rPr lang="en-US" sz="1800" dirty="0">
                <a:solidFill>
                  <a:srgbClr val="333333"/>
                </a:solidFill>
                <a:latin typeface="Calibri" pitchFamily="34" charset="0"/>
                <a:ea typeface="Calibri" pitchFamily="34" charset="-122"/>
                <a:cs typeface="Calibri" pitchFamily="34" charset="-120"/>
              </a:rPr>
              <a:t>Offre de service &amp; engagements</a:t>
            </a:r>
            <a:endParaRPr lang="en-US" sz="1800" dirty="0"/>
          </a:p>
        </p:txBody>
      </p:sp>
      <p:sp>
        <p:nvSpPr>
          <p:cNvPr id="12" name="Text 10"/>
          <p:cNvSpPr/>
          <p:nvPr/>
        </p:nvSpPr>
        <p:spPr>
          <a:xfrm>
            <a:off x="914400" y="4389120"/>
            <a:ext cx="548640" cy="457200"/>
          </a:xfrm>
          <a:prstGeom prst="rect">
            <a:avLst/>
          </a:prstGeom>
          <a:noFill/>
          <a:ln/>
        </p:spPr>
        <p:txBody>
          <a:bodyPr wrap="square" rtlCol="0" anchor="ctr"/>
          <a:lstStyle/>
          <a:p>
            <a:pPr algn="l" indent="0" marL="0">
              <a:buNone/>
            </a:pPr>
            <a:r>
              <a:rPr lang="en-US" sz="2000" b="1" dirty="0">
                <a:solidFill>
                  <a:srgbClr val="B41E2C"/>
                </a:solidFill>
                <a:latin typeface="Calibri" pitchFamily="34" charset="0"/>
                <a:ea typeface="Calibri" pitchFamily="34" charset="-122"/>
                <a:cs typeface="Calibri" pitchFamily="34" charset="-120"/>
              </a:rPr>
              <a:t>5.</a:t>
            </a:r>
            <a:endParaRPr lang="en-US" sz="2000" dirty="0"/>
          </a:p>
        </p:txBody>
      </p:sp>
      <p:sp>
        <p:nvSpPr>
          <p:cNvPr id="13" name="Text 11"/>
          <p:cNvSpPr/>
          <p:nvPr/>
        </p:nvSpPr>
        <p:spPr>
          <a:xfrm>
            <a:off x="1554480" y="4389120"/>
            <a:ext cx="10058400" cy="457200"/>
          </a:xfrm>
          <a:prstGeom prst="rect">
            <a:avLst/>
          </a:prstGeom>
          <a:noFill/>
          <a:ln/>
        </p:spPr>
        <p:txBody>
          <a:bodyPr wrap="square" rtlCol="0" anchor="ctr"/>
          <a:lstStyle/>
          <a:p>
            <a:pPr algn="l" indent="0" marL="0">
              <a:buNone/>
            </a:pPr>
            <a:r>
              <a:rPr lang="en-US" sz="1800" dirty="0">
                <a:solidFill>
                  <a:srgbClr val="333333"/>
                </a:solidFill>
                <a:latin typeface="Calibri" pitchFamily="34" charset="0"/>
                <a:ea typeface="Calibri" pitchFamily="34" charset="-122"/>
                <a:cs typeface="Calibri" pitchFamily="34" charset="-120"/>
              </a:rPr>
              <a:t>Proposition financière</a:t>
            </a:r>
            <a:endParaRPr lang="en-US" sz="1800" dirty="0"/>
          </a:p>
        </p:txBody>
      </p:sp>
      <p:sp>
        <p:nvSpPr>
          <p:cNvPr id="14" name="Text 12"/>
          <p:cNvSpPr/>
          <p:nvPr/>
        </p:nvSpPr>
        <p:spPr>
          <a:xfrm>
            <a:off x="914400" y="5029200"/>
            <a:ext cx="548640" cy="457200"/>
          </a:xfrm>
          <a:prstGeom prst="rect">
            <a:avLst/>
          </a:prstGeom>
          <a:noFill/>
          <a:ln/>
        </p:spPr>
        <p:txBody>
          <a:bodyPr wrap="square" rtlCol="0" anchor="ctr"/>
          <a:lstStyle/>
          <a:p>
            <a:pPr algn="l" indent="0" marL="0">
              <a:buNone/>
            </a:pPr>
            <a:r>
              <a:rPr lang="en-US" sz="2000" b="1" dirty="0">
                <a:solidFill>
                  <a:srgbClr val="B41E2C"/>
                </a:solidFill>
                <a:latin typeface="Calibri" pitchFamily="34" charset="0"/>
                <a:ea typeface="Calibri" pitchFamily="34" charset="-122"/>
                <a:cs typeface="Calibri" pitchFamily="34" charset="-120"/>
              </a:rPr>
              <a:t>6.</a:t>
            </a:r>
            <a:endParaRPr lang="en-US" sz="2000" dirty="0"/>
          </a:p>
        </p:txBody>
      </p:sp>
      <p:sp>
        <p:nvSpPr>
          <p:cNvPr id="15" name="Text 13"/>
          <p:cNvSpPr/>
          <p:nvPr/>
        </p:nvSpPr>
        <p:spPr>
          <a:xfrm>
            <a:off x="1554480" y="5029200"/>
            <a:ext cx="10058400" cy="457200"/>
          </a:xfrm>
          <a:prstGeom prst="rect">
            <a:avLst/>
          </a:prstGeom>
          <a:noFill/>
          <a:ln/>
        </p:spPr>
        <p:txBody>
          <a:bodyPr wrap="square" rtlCol="0" anchor="ctr"/>
          <a:lstStyle/>
          <a:p>
            <a:pPr algn="l" indent="0" marL="0">
              <a:buNone/>
            </a:pPr>
            <a:r>
              <a:rPr lang="en-US" sz="1800" dirty="0">
                <a:solidFill>
                  <a:srgbClr val="333333"/>
                </a:solidFill>
                <a:latin typeface="Calibri" pitchFamily="34" charset="0"/>
                <a:ea typeface="Calibri" pitchFamily="34" charset="-122"/>
                <a:cs typeface="Calibri" pitchFamily="34" charset="-120"/>
              </a:rPr>
              <a:t>Facturation et modalités</a:t>
            </a:r>
            <a:endParaRPr lang="en-US" sz="1800" dirty="0"/>
          </a:p>
        </p:txBody>
      </p:sp>
      <p:sp>
        <p:nvSpPr>
          <p:cNvPr id="25" name="Slide Number Placeholder 0"/>
          <p:cNvSpPr>
            <a:spLocks noGrp="1"/>
          </p:cNvSpPr>
          <p:nvPr>
            <p:ph type="sldNum" sz="quarter" idx="4294967295"/>
          </p:nvPr>
        </p:nvSpPr>
        <p:spPr>
          <a:xfrm>
            <a:off x="11521440" y="6510528"/>
            <a:ext cx="457200" cy="22860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Calibri"/>
                <a:ea typeface="Calibri"/>
                <a:cs typeface="Calibri"/>
              </a:defRPr>
            </a:lvl1pPr>
          </a:lstStyle>
          <a:p>
            <a:pPr algn="l"/>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1371600" cy="914400"/>
          </a:xfrm>
          <a:prstGeom prst="rect">
            <a:avLst/>
          </a:prstGeom>
          <a:noFill/>
          <a:ln/>
        </p:spPr>
        <p:txBody>
          <a:bodyPr wrap="square" rtlCol="0" anchor="ctr"/>
          <a:lstStyle/>
          <a:p>
            <a:pPr algn="l" indent="0" marL="0">
              <a:buNone/>
            </a:pPr>
            <a:r>
              <a:rPr lang="en-US" sz="4800" b="1" dirty="0">
                <a:solidFill>
                  <a:srgbClr val="B41E2C"/>
                </a:solidFill>
                <a:latin typeface="Calibri" pitchFamily="34" charset="0"/>
                <a:ea typeface="Calibri" pitchFamily="34" charset="-122"/>
                <a:cs typeface="Calibri" pitchFamily="34" charset="-120"/>
              </a:rPr>
              <a:t>1.</a:t>
            </a:r>
            <a:endParaRPr lang="en-US" sz="4800" dirty="0"/>
          </a:p>
        </p:txBody>
      </p:sp>
      <p:sp>
        <p:nvSpPr>
          <p:cNvPr id="3" name="Text 1"/>
          <p:cNvSpPr/>
          <p:nvPr/>
        </p:nvSpPr>
        <p:spPr>
          <a:xfrm>
            <a:off x="1645920" y="457200"/>
            <a:ext cx="10058400" cy="914400"/>
          </a:xfrm>
          <a:prstGeom prst="rect">
            <a:avLst/>
          </a:prstGeom>
          <a:noFill/>
          <a:ln/>
        </p:spPr>
        <p:txBody>
          <a:bodyPr wrap="square" rtlCol="0" anchor="ctr"/>
          <a:lstStyle/>
          <a:p>
            <a:pPr algn="l" indent="0" marL="0">
              <a:buNone/>
            </a:pPr>
            <a:r>
              <a:rPr lang="en-US" sz="3200" b="1" dirty="0">
                <a:solidFill>
                  <a:srgbClr val="333333"/>
                </a:solidFill>
                <a:latin typeface="Calibri" pitchFamily="34" charset="0"/>
                <a:ea typeface="Calibri" pitchFamily="34" charset="-122"/>
                <a:cs typeface="Calibri" pitchFamily="34" charset="-120"/>
              </a:rPr>
              <a:t>Contexte et objectifs</a:t>
            </a:r>
            <a:endParaRPr lang="en-US" sz="3200" dirty="0"/>
          </a:p>
        </p:txBody>
      </p:sp>
      <p:sp>
        <p:nvSpPr>
          <p:cNvPr id="4" name="Shape 2"/>
          <p:cNvSpPr/>
          <p:nvPr/>
        </p:nvSpPr>
        <p:spPr>
          <a:xfrm>
            <a:off x="457200" y="1417320"/>
            <a:ext cx="1371600" cy="36576"/>
          </a:xfrm>
          <a:prstGeom prst="rect">
            <a:avLst/>
          </a:prstGeom>
          <a:solidFill>
            <a:srgbClr val="B41E2C"/>
          </a:solidFill>
          <a:ln/>
        </p:spPr>
      </p:sp>
      <p:sp>
        <p:nvSpPr>
          <p:cNvPr id="5" name="Text 3"/>
          <p:cNvSpPr/>
          <p:nvPr/>
        </p:nvSpPr>
        <p:spPr>
          <a:xfrm>
            <a:off x="457200" y="1828800"/>
            <a:ext cx="11277295" cy="1371600"/>
          </a:xfrm>
          <a:prstGeom prst="rect">
            <a:avLst/>
          </a:prstGeom>
          <a:noFill/>
          <a:ln/>
        </p:spPr>
        <p:txBody>
          <a:bodyPr wrap="square" rtlCol="0" anchor="t"/>
          <a:lstStyle/>
          <a:p>
            <a:pPr algn="l" indent="0" marL="0">
              <a:spcAft>
                <a:spcPts val="800"/>
              </a:spcAft>
              <a:buNone/>
            </a:pPr>
            <a:r>
              <a:rPr lang="en-US" sz="1600" dirty="0">
                <a:solidFill>
                  <a:srgbClr val="333333"/>
                </a:solidFill>
                <a:latin typeface="Calibri" pitchFamily="34" charset="0"/>
                <a:ea typeface="Calibri" pitchFamily="34" charset="-122"/>
                <a:cs typeface="Calibri"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600" dirty="0"/>
          </a:p>
        </p:txBody>
      </p:sp>
      <p:sp>
        <p:nvSpPr>
          <p:cNvPr id="6" name="Text 4"/>
          <p:cNvSpPr/>
          <p:nvPr/>
        </p:nvSpPr>
        <p:spPr>
          <a:xfrm>
            <a:off x="731520" y="3474720"/>
            <a:ext cx="10972800" cy="2286000"/>
          </a:xfrm>
          <a:prstGeom prst="rect">
            <a:avLst/>
          </a:prstGeom>
          <a:noFill/>
          <a:ln/>
        </p:spPr>
        <p:txBody>
          <a:bodyPr wrap="square" rtlCol="0" anchor="ctr"/>
          <a:lstStyle/>
          <a:p>
            <a:pPr marL="342900" indent="-342900">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Premier objectif structurant de l'offre</a:t>
            </a:r>
            <a:endParaRPr lang="en-US" sz="1600" dirty="0"/>
          </a:p>
          <a:p>
            <a:pPr marL="342900" indent="-342900">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Deuxième objectif structurant de l'offre</a:t>
            </a:r>
            <a:endParaRPr lang="en-US" sz="1600" dirty="0"/>
          </a:p>
          <a:p>
            <a:pPr marL="342900" indent="-342900">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Troisième objectif structurant de l'offre</a:t>
            </a:r>
            <a:endParaRPr lang="en-US" sz="1600" dirty="0"/>
          </a:p>
        </p:txBody>
      </p:sp>
      <p:sp>
        <p:nvSpPr>
          <p:cNvPr id="25" name="Slide Number Placeholder 0"/>
          <p:cNvSpPr>
            <a:spLocks noGrp="1"/>
          </p:cNvSpPr>
          <p:nvPr>
            <p:ph type="sldNum" sz="quarter" idx="4294967295"/>
          </p:nvPr>
        </p:nvSpPr>
        <p:spPr>
          <a:xfrm>
            <a:off x="11521440" y="6510528"/>
            <a:ext cx="457200" cy="22860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Calibri"/>
                <a:ea typeface="Calibri"/>
                <a:cs typeface="Calibri"/>
              </a:defRPr>
            </a:lvl1pPr>
          </a:lstStyle>
          <a:p>
            <a:pPr algn="l"/>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1371600" cy="914400"/>
          </a:xfrm>
          <a:prstGeom prst="rect">
            <a:avLst/>
          </a:prstGeom>
          <a:noFill/>
          <a:ln/>
        </p:spPr>
        <p:txBody>
          <a:bodyPr wrap="square" rtlCol="0" anchor="ctr"/>
          <a:lstStyle/>
          <a:p>
            <a:pPr algn="l" indent="0" marL="0">
              <a:buNone/>
            </a:pPr>
            <a:r>
              <a:rPr lang="en-US" sz="4800" b="1" dirty="0">
                <a:solidFill>
                  <a:srgbClr val="B41E2C"/>
                </a:solidFill>
                <a:latin typeface="Calibri" pitchFamily="34" charset="0"/>
                <a:ea typeface="Calibri" pitchFamily="34" charset="-122"/>
                <a:cs typeface="Calibri" pitchFamily="34" charset="-120"/>
              </a:rPr>
              <a:t>2.</a:t>
            </a:r>
            <a:endParaRPr lang="en-US" sz="4800" dirty="0"/>
          </a:p>
        </p:txBody>
      </p:sp>
      <p:sp>
        <p:nvSpPr>
          <p:cNvPr id="3" name="Text 1"/>
          <p:cNvSpPr/>
          <p:nvPr/>
        </p:nvSpPr>
        <p:spPr>
          <a:xfrm>
            <a:off x="1645920" y="457200"/>
            <a:ext cx="10058400" cy="914400"/>
          </a:xfrm>
          <a:prstGeom prst="rect">
            <a:avLst/>
          </a:prstGeom>
          <a:noFill/>
          <a:ln/>
        </p:spPr>
        <p:txBody>
          <a:bodyPr wrap="square" rtlCol="0" anchor="ctr"/>
          <a:lstStyle/>
          <a:p>
            <a:pPr algn="l" indent="0" marL="0">
              <a:buNone/>
            </a:pPr>
            <a:r>
              <a:rPr lang="en-US" sz="3200" b="1" dirty="0">
                <a:solidFill>
                  <a:srgbClr val="333333"/>
                </a:solidFill>
                <a:latin typeface="Calibri" pitchFamily="34" charset="0"/>
                <a:ea typeface="Calibri" pitchFamily="34" charset="-122"/>
                <a:cs typeface="Calibri" pitchFamily="34" charset="-120"/>
              </a:rPr>
              <a:t>Engagements de service</a:t>
            </a:r>
            <a:endParaRPr lang="en-US" sz="3200" dirty="0"/>
          </a:p>
        </p:txBody>
      </p:sp>
      <p:sp>
        <p:nvSpPr>
          <p:cNvPr id="4" name="Shape 2"/>
          <p:cNvSpPr/>
          <p:nvPr/>
        </p:nvSpPr>
        <p:spPr>
          <a:xfrm>
            <a:off x="457200" y="1417320"/>
            <a:ext cx="1371600" cy="36576"/>
          </a:xfrm>
          <a:prstGeom prst="rect">
            <a:avLst/>
          </a:prstGeom>
          <a:solidFill>
            <a:srgbClr val="B41E2C"/>
          </a:solidFill>
          <a:ln/>
        </p:spPr>
      </p:sp>
      <p:sp>
        <p:nvSpPr>
          <p:cNvPr id="5" name="Text 3"/>
          <p:cNvSpPr/>
          <p:nvPr/>
        </p:nvSpPr>
        <p:spPr>
          <a:xfrm>
            <a:off x="457200" y="1828800"/>
            <a:ext cx="11277295" cy="457200"/>
          </a:xfrm>
          <a:prstGeom prst="rect">
            <a:avLst/>
          </a:prstGeom>
          <a:noFill/>
          <a:ln/>
        </p:spPr>
        <p:txBody>
          <a:bodyPr wrap="square" rtlCol="0" anchor="ctr"/>
          <a:lstStyle/>
          <a:p>
            <a:pPr algn="l" indent="0" marL="0">
              <a:buNone/>
            </a:pPr>
            <a:r>
              <a:rPr lang="en-US" sz="1800" i="1" dirty="0">
                <a:solidFill>
                  <a:srgbClr val="888888"/>
                </a:solidFill>
                <a:latin typeface="Calibri" pitchFamily="34" charset="0"/>
                <a:ea typeface="Calibri" pitchFamily="34" charset="-122"/>
                <a:cs typeface="Calibri" pitchFamily="34" charset="-120"/>
              </a:rPr>
              <a:t>Niveaux de service garantis (SLA)</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2286000"/>
                <a:gridCol w="2743200"/>
                <a:gridCol w="2743200"/>
                <a:gridCol w="3504895"/>
              </a:tblGrid>
              <a:tr h="50292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Niveau</a:t>
                      </a:r>
                      <a:endParaRPr lang="en-US" sz="14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B41E2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Prise en charge</a:t>
                      </a:r>
                      <a:endParaRPr lang="en-US" sz="14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B41E2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Résolution</a:t>
                      </a:r>
                      <a:endParaRPr lang="en-US" sz="14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B41E2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Pénalité</a:t>
                      </a:r>
                      <a:endParaRPr lang="en-US" sz="14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B41E2C"/>
                    </a:solidFill>
                  </a:tcPr>
                </a:tc>
              </a:tr>
              <a:tr h="502920">
                <a:tc>
                  <a:txBody>
                    <a:bodyPr/>
                    <a:lstStyle/>
                    <a:p>
                      <a:pPr algn="l" indent="0" marL="0">
                        <a:buNone/>
                      </a:pPr>
                      <a:r>
                        <a:rPr lang="en-US" sz="1300" b="1" dirty="0">
                          <a:solidFill>
                            <a:srgbClr val="B41E2C"/>
                          </a:solidFill>
                          <a:latin typeface="Calibri" pitchFamily="34" charset="0"/>
                          <a:ea typeface="Calibri" pitchFamily="34" charset="-122"/>
                          <a:cs typeface="Calibri" pitchFamily="34" charset="-120"/>
                        </a:rPr>
                        <a:t>Critique</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333333"/>
                          </a:solidFill>
                          <a:latin typeface="Calibri" pitchFamily="34" charset="0"/>
                          <a:ea typeface="Calibri" pitchFamily="34" charset="-122"/>
                          <a:cs typeface="Calibri" pitchFamily="34" charset="-120"/>
                        </a:rPr>
                        <a:t>30 minutes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333333"/>
                          </a:solidFill>
                          <a:latin typeface="Calibri" pitchFamily="34" charset="0"/>
                          <a:ea typeface="Calibri" pitchFamily="34" charset="-122"/>
                          <a:cs typeface="Calibri" pitchFamily="34" charset="-120"/>
                        </a:rPr>
                        <a:t>8 heures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333333"/>
                          </a:solidFill>
                          <a:latin typeface="Calibri" pitchFamily="34" charset="0"/>
                          <a:ea typeface="Calibri" pitchFamily="34" charset="-122"/>
                          <a:cs typeface="Calibri" pitchFamily="34" charset="-120"/>
                        </a:rPr>
                        <a:t>5 % du CA mensuel</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02920">
                <a:tc>
                  <a:txBody>
                    <a:bodyPr/>
                    <a:lstStyle/>
                    <a:p>
                      <a:pPr algn="l" indent="0" marL="0">
                        <a:buNone/>
                      </a:pPr>
                      <a:r>
                        <a:rPr lang="en-US" sz="1300" b="1" dirty="0">
                          <a:solidFill>
                            <a:srgbClr val="B41E2C"/>
                          </a:solidFill>
                          <a:latin typeface="Calibri" pitchFamily="34" charset="0"/>
                          <a:ea typeface="Calibri" pitchFamily="34" charset="-122"/>
                          <a:cs typeface="Calibri" pitchFamily="34" charset="-120"/>
                        </a:rPr>
                        <a:t>Majeur</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algn="l" indent="0" marL="0">
                        <a:buNone/>
                      </a:pPr>
                      <a:r>
                        <a:rPr lang="en-US" sz="1300" dirty="0">
                          <a:solidFill>
                            <a:srgbClr val="333333"/>
                          </a:solidFill>
                          <a:latin typeface="Calibri" pitchFamily="34" charset="0"/>
                          <a:ea typeface="Calibri" pitchFamily="34" charset="-122"/>
                          <a:cs typeface="Calibri" pitchFamily="34" charset="-120"/>
                        </a:rPr>
                        <a:t>2 heures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algn="l" indent="0" marL="0">
                        <a:buNone/>
                      </a:pPr>
                      <a:r>
                        <a:rPr lang="en-US" sz="1300" dirty="0">
                          <a:solidFill>
                            <a:srgbClr val="333333"/>
                          </a:solidFill>
                          <a:latin typeface="Calibri" pitchFamily="34" charset="0"/>
                          <a:ea typeface="Calibri" pitchFamily="34" charset="-122"/>
                          <a:cs typeface="Calibri" pitchFamily="34" charset="-120"/>
                        </a:rPr>
                        <a:t>24 heures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c>
                  <a:txBody>
                    <a:bodyPr/>
                    <a:lstStyle/>
                    <a:p>
                      <a:pPr algn="l" indent="0" marL="0">
                        <a:buNone/>
                      </a:pPr>
                      <a:r>
                        <a:rPr lang="en-US" sz="1300" dirty="0">
                          <a:solidFill>
                            <a:srgbClr val="333333"/>
                          </a:solidFill>
                          <a:latin typeface="Calibri" pitchFamily="34" charset="0"/>
                          <a:ea typeface="Calibri" pitchFamily="34" charset="-122"/>
                          <a:cs typeface="Calibri" pitchFamily="34" charset="-120"/>
                        </a:rPr>
                        <a:t>2 % du CA mensuel</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r>
              <a:tr h="502920">
                <a:tc>
                  <a:txBody>
                    <a:bodyPr/>
                    <a:lstStyle/>
                    <a:p>
                      <a:pPr algn="l" indent="0" marL="0">
                        <a:buNone/>
                      </a:pPr>
                      <a:r>
                        <a:rPr lang="en-US" sz="1300" b="1" dirty="0">
                          <a:solidFill>
                            <a:srgbClr val="B41E2C"/>
                          </a:solidFill>
                          <a:latin typeface="Calibri" pitchFamily="34" charset="0"/>
                          <a:ea typeface="Calibri" pitchFamily="34" charset="-122"/>
                          <a:cs typeface="Calibri" pitchFamily="34" charset="-120"/>
                        </a:rPr>
                        <a:t>Mineur</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333333"/>
                          </a:solidFill>
                          <a:latin typeface="Calibri" pitchFamily="34" charset="0"/>
                          <a:ea typeface="Calibri" pitchFamily="34" charset="-122"/>
                          <a:cs typeface="Calibri" pitchFamily="34" charset="-120"/>
                        </a:rPr>
                        <a:t>8 heures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333333"/>
                          </a:solidFill>
                          <a:latin typeface="Calibri" pitchFamily="34" charset="0"/>
                          <a:ea typeface="Calibri" pitchFamily="34" charset="-122"/>
                          <a:cs typeface="Calibri" pitchFamily="34" charset="-120"/>
                        </a:rPr>
                        <a:t>72 heures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l" indent="0" marL="0">
                        <a:buNone/>
                      </a:pPr>
                      <a:r>
                        <a:rPr lang="en-US" sz="1300" dirty="0">
                          <a:solidFill>
                            <a:srgbClr val="333333"/>
                          </a:solidFill>
                          <a:latin typeface="Calibri" pitchFamily="34" charset="0"/>
                          <a:ea typeface="Calibri" pitchFamily="34" charset="-122"/>
                          <a:cs typeface="Calibri" pitchFamily="34" charset="-120"/>
                        </a:rPr>
                        <a:t>Aucune</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521440" y="6510528"/>
            <a:ext cx="457200" cy="22860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Calibri"/>
                <a:ea typeface="Calibri"/>
                <a:cs typeface="Calibri"/>
              </a:defRPr>
            </a:lvl1pPr>
          </a:lstStyle>
          <a:p>
            <a:pPr algn="l"/>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1371600" cy="914400"/>
          </a:xfrm>
          <a:prstGeom prst="rect">
            <a:avLst/>
          </a:prstGeom>
          <a:noFill/>
          <a:ln/>
        </p:spPr>
        <p:txBody>
          <a:bodyPr wrap="square" rtlCol="0" anchor="ctr"/>
          <a:lstStyle/>
          <a:p>
            <a:pPr algn="l" indent="0" marL="0">
              <a:buNone/>
            </a:pPr>
            <a:r>
              <a:rPr lang="en-US" sz="4800" b="1" dirty="0">
                <a:solidFill>
                  <a:srgbClr val="B41E2C"/>
                </a:solidFill>
                <a:latin typeface="Calibri" pitchFamily="34" charset="0"/>
                <a:ea typeface="Calibri" pitchFamily="34" charset="-122"/>
                <a:cs typeface="Calibri" pitchFamily="34" charset="-120"/>
              </a:rPr>
              <a:t>3.</a:t>
            </a:r>
            <a:endParaRPr lang="en-US" sz="4800" dirty="0"/>
          </a:p>
        </p:txBody>
      </p:sp>
      <p:sp>
        <p:nvSpPr>
          <p:cNvPr id="3" name="Text 1"/>
          <p:cNvSpPr/>
          <p:nvPr/>
        </p:nvSpPr>
        <p:spPr>
          <a:xfrm>
            <a:off x="1645920" y="457200"/>
            <a:ext cx="10058400" cy="914400"/>
          </a:xfrm>
          <a:prstGeom prst="rect">
            <a:avLst/>
          </a:prstGeom>
          <a:noFill/>
          <a:ln/>
        </p:spPr>
        <p:txBody>
          <a:bodyPr wrap="square" rtlCol="0" anchor="ctr"/>
          <a:lstStyle/>
          <a:p>
            <a:pPr algn="l" indent="0" marL="0">
              <a:buNone/>
            </a:pPr>
            <a:r>
              <a:rPr lang="en-US" sz="3200" b="1" dirty="0">
                <a:solidFill>
                  <a:srgbClr val="333333"/>
                </a:solidFill>
                <a:latin typeface="Calibri" pitchFamily="34" charset="0"/>
                <a:ea typeface="Calibri" pitchFamily="34" charset="-122"/>
                <a:cs typeface="Calibri" pitchFamily="34" charset="-120"/>
              </a:rPr>
              <a:t>LINAGORA, acteur souverain</a:t>
            </a:r>
            <a:endParaRPr lang="en-US" sz="3200" dirty="0"/>
          </a:p>
        </p:txBody>
      </p:sp>
      <p:sp>
        <p:nvSpPr>
          <p:cNvPr id="4" name="Shape 2"/>
          <p:cNvSpPr/>
          <p:nvPr/>
        </p:nvSpPr>
        <p:spPr>
          <a:xfrm>
            <a:off x="457200" y="1417320"/>
            <a:ext cx="1371600" cy="36576"/>
          </a:xfrm>
          <a:prstGeom prst="rect">
            <a:avLst/>
          </a:prstGeom>
          <a:solidFill>
            <a:srgbClr val="B41E2C"/>
          </a:solidFill>
          <a:ln/>
        </p:spPr>
      </p:sp>
      <p:sp>
        <p:nvSpPr>
          <p:cNvPr id="5" name="Shape 3"/>
          <p:cNvSpPr/>
          <p:nvPr/>
        </p:nvSpPr>
        <p:spPr>
          <a:xfrm>
            <a:off x="457200" y="2011680"/>
            <a:ext cx="73152" cy="3200400"/>
          </a:xfrm>
          <a:prstGeom prst="rect">
            <a:avLst/>
          </a:prstGeom>
          <a:solidFill>
            <a:srgbClr val="B41E2C"/>
          </a:solidFill>
          <a:ln/>
        </p:spPr>
      </p:sp>
      <p:sp>
        <p:nvSpPr>
          <p:cNvPr id="6" name="Text 4"/>
          <p:cNvSpPr/>
          <p:nvPr/>
        </p:nvSpPr>
        <p:spPr>
          <a:xfrm>
            <a:off x="731520" y="2011680"/>
            <a:ext cx="5029200" cy="457200"/>
          </a:xfrm>
          <a:prstGeom prst="rect">
            <a:avLst/>
          </a:prstGeom>
          <a:noFill/>
          <a:ln/>
        </p:spPr>
        <p:txBody>
          <a:bodyPr wrap="square" rtlCol="0" anchor="ctr"/>
          <a:lstStyle/>
          <a:p>
            <a:pPr indent="0" marL="0">
              <a:buNone/>
            </a:pPr>
            <a:r>
              <a:rPr lang="en-US" sz="1800" b="1" dirty="0">
                <a:solidFill>
                  <a:srgbClr val="B41E2C"/>
                </a:solidFill>
                <a:latin typeface="Calibri" pitchFamily="34" charset="0"/>
                <a:ea typeface="Calibri" pitchFamily="34" charset="-122"/>
                <a:cs typeface="Calibri" pitchFamily="34" charset="-120"/>
              </a:rPr>
              <a:t>Notre mission</a:t>
            </a:r>
            <a:endParaRPr lang="en-US" sz="1800" dirty="0"/>
          </a:p>
        </p:txBody>
      </p:sp>
      <p:sp>
        <p:nvSpPr>
          <p:cNvPr id="7" name="Text 5"/>
          <p:cNvSpPr/>
          <p:nvPr/>
        </p:nvSpPr>
        <p:spPr>
          <a:xfrm>
            <a:off x="731520" y="2560320"/>
            <a:ext cx="5029200" cy="2286000"/>
          </a:xfrm>
          <a:prstGeom prst="rect">
            <a:avLst/>
          </a:prstGeom>
          <a:noFill/>
          <a:ln/>
        </p:spPr>
        <p:txBody>
          <a:bodyPr wrap="square" rtlCol="0" anchor="t"/>
          <a:lstStyle/>
          <a:p>
            <a:pPr indent="0" marL="0">
              <a:spcAft>
                <a:spcPts val="1000"/>
              </a:spcAft>
              <a:buNone/>
            </a:pPr>
            <a:r>
              <a:rPr lang="en-US" sz="1400" dirty="0">
                <a:solidFill>
                  <a:srgbClr val="333333"/>
                </a:solidFill>
                <a:latin typeface="Calibri" pitchFamily="34" charset="0"/>
                <a:ea typeface="Calibri" pitchFamily="34" charset="-122"/>
                <a:cs typeface="Calibri" pitchFamily="34" charset="-120"/>
              </a:rPr>
              <a:t>Proposer aux administrations et aux entreprises une alternative crédible aux solutions propriétaires, en s'appuyant exclusivement sur des logiciels libres.</a:t>
            </a:r>
            <a:endParaRPr lang="en-US" sz="1400" dirty="0"/>
          </a:p>
        </p:txBody>
      </p:sp>
      <p:sp>
        <p:nvSpPr>
          <p:cNvPr id="8" name="Shape 6"/>
          <p:cNvSpPr/>
          <p:nvPr/>
        </p:nvSpPr>
        <p:spPr>
          <a:xfrm>
            <a:off x="6400800" y="2011680"/>
            <a:ext cx="73152" cy="3200400"/>
          </a:xfrm>
          <a:prstGeom prst="rect">
            <a:avLst/>
          </a:prstGeom>
          <a:solidFill>
            <a:srgbClr val="B41E2C"/>
          </a:solidFill>
          <a:ln/>
        </p:spPr>
      </p:sp>
      <p:sp>
        <p:nvSpPr>
          <p:cNvPr id="9" name="Text 7"/>
          <p:cNvSpPr/>
          <p:nvPr/>
        </p:nvSpPr>
        <p:spPr>
          <a:xfrm>
            <a:off x="6675120" y="2011680"/>
            <a:ext cx="5029200" cy="457200"/>
          </a:xfrm>
          <a:prstGeom prst="rect">
            <a:avLst/>
          </a:prstGeom>
          <a:noFill/>
          <a:ln/>
        </p:spPr>
        <p:txBody>
          <a:bodyPr wrap="square" rtlCol="0" anchor="ctr"/>
          <a:lstStyle/>
          <a:p>
            <a:pPr indent="0" marL="0">
              <a:buNone/>
            </a:pPr>
            <a:r>
              <a:rPr lang="en-US" sz="1800" b="1" dirty="0">
                <a:solidFill>
                  <a:srgbClr val="B41E2C"/>
                </a:solidFill>
                <a:latin typeface="Calibri" pitchFamily="34" charset="0"/>
                <a:ea typeface="Calibri" pitchFamily="34" charset="-122"/>
                <a:cs typeface="Calibri" pitchFamily="34" charset="-120"/>
              </a:rPr>
              <a:t>Notre positionnement</a:t>
            </a:r>
            <a:endParaRPr lang="en-US" sz="1800" dirty="0"/>
          </a:p>
        </p:txBody>
      </p:sp>
      <p:sp>
        <p:nvSpPr>
          <p:cNvPr id="10" name="Text 8"/>
          <p:cNvSpPr/>
          <p:nvPr/>
        </p:nvSpPr>
        <p:spPr>
          <a:xfrm>
            <a:off x="6675120" y="2560320"/>
            <a:ext cx="5029200" cy="2286000"/>
          </a:xfrm>
          <a:prstGeom prst="rect">
            <a:avLst/>
          </a:prstGeom>
          <a:noFill/>
          <a:ln/>
        </p:spPr>
        <p:txBody>
          <a:bodyPr wrap="square" rtlCol="0" anchor="t"/>
          <a:lstStyle/>
          <a:p>
            <a:pPr indent="0" marL="0">
              <a:spcAft>
                <a:spcPts val="1000"/>
              </a:spcAft>
              <a:buNone/>
            </a:pPr>
            <a:r>
              <a:rPr lang="en-US" sz="1400" dirty="0">
                <a:solidFill>
                  <a:srgbClr val="333333"/>
                </a:solidFill>
                <a:latin typeface="Calibri" pitchFamily="34" charset="0"/>
                <a:ea typeface="Calibri" pitchFamily="34" charset="-122"/>
                <a:cs typeface="Calibri" pitchFamily="34" charset="-120"/>
              </a:rPr>
              <a:t>Acteur de référence en matière de souveraineté numérique, accompagnant plus de 150 administrations publiques et grandes entreprises.</a:t>
            </a:r>
            <a:endParaRPr lang="en-US" sz="1400" dirty="0"/>
          </a:p>
        </p:txBody>
      </p:sp>
      <p:sp>
        <p:nvSpPr>
          <p:cNvPr id="11" name="Shape 9"/>
          <p:cNvSpPr/>
          <p:nvPr/>
        </p:nvSpPr>
        <p:spPr>
          <a:xfrm>
            <a:off x="457200" y="5394960"/>
            <a:ext cx="11277295" cy="822960"/>
          </a:xfrm>
          <a:prstGeom prst="rect">
            <a:avLst/>
          </a:prstGeom>
          <a:solidFill>
            <a:srgbClr val="F5F5F5"/>
          </a:solidFill>
          <a:ln/>
        </p:spPr>
      </p:sp>
      <p:sp>
        <p:nvSpPr>
          <p:cNvPr id="12" name="Text 10"/>
          <p:cNvSpPr/>
          <p:nvPr/>
        </p:nvSpPr>
        <p:spPr>
          <a:xfrm>
            <a:off x="457200" y="5394960"/>
            <a:ext cx="2286000" cy="822960"/>
          </a:xfrm>
          <a:prstGeom prst="rect">
            <a:avLst/>
          </a:prstGeom>
          <a:noFill/>
          <a:ln/>
        </p:spPr>
        <p:txBody>
          <a:bodyPr wrap="square" rtlCol="0" anchor="ctr"/>
          <a:lstStyle/>
          <a:p>
            <a:pPr algn="ctr" indent="0" marL="0">
              <a:buNone/>
            </a:pPr>
            <a:r>
              <a:rPr lang="en-US" sz="3200" b="1" dirty="0">
                <a:solidFill>
                  <a:srgbClr val="B41E2C"/>
                </a:solidFill>
                <a:latin typeface="Calibri" pitchFamily="34" charset="0"/>
                <a:ea typeface="Calibri" pitchFamily="34" charset="-122"/>
                <a:cs typeface="Calibri" pitchFamily="34" charset="-120"/>
              </a:rPr>
              <a:t>200+</a:t>
            </a:r>
            <a:endParaRPr lang="en-US" sz="3200" dirty="0"/>
          </a:p>
        </p:txBody>
      </p:sp>
      <p:sp>
        <p:nvSpPr>
          <p:cNvPr id="13" name="Text 11"/>
          <p:cNvSpPr/>
          <p:nvPr/>
        </p:nvSpPr>
        <p:spPr>
          <a:xfrm>
            <a:off x="2743200" y="5394960"/>
            <a:ext cx="2743200" cy="82296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collaborateurs</a:t>
            </a:r>
            <a:endParaRPr lang="en-US" sz="1300" dirty="0"/>
          </a:p>
        </p:txBody>
      </p:sp>
      <p:sp>
        <p:nvSpPr>
          <p:cNvPr id="14" name="Text 12"/>
          <p:cNvSpPr/>
          <p:nvPr/>
        </p:nvSpPr>
        <p:spPr>
          <a:xfrm>
            <a:off x="5486400" y="5394960"/>
            <a:ext cx="1828800" cy="822960"/>
          </a:xfrm>
          <a:prstGeom prst="rect">
            <a:avLst/>
          </a:prstGeom>
          <a:noFill/>
          <a:ln/>
        </p:spPr>
        <p:txBody>
          <a:bodyPr wrap="square" rtlCol="0" anchor="ctr"/>
          <a:lstStyle/>
          <a:p>
            <a:pPr algn="ctr" indent="0" marL="0">
              <a:buNone/>
            </a:pPr>
            <a:r>
              <a:rPr lang="en-US" sz="3200" b="1" dirty="0">
                <a:solidFill>
                  <a:srgbClr val="B41E2C"/>
                </a:solidFill>
                <a:latin typeface="Calibri" pitchFamily="34" charset="0"/>
                <a:ea typeface="Calibri" pitchFamily="34" charset="-122"/>
                <a:cs typeface="Calibri" pitchFamily="34" charset="-120"/>
              </a:rPr>
              <a:t>150+</a:t>
            </a:r>
            <a:endParaRPr lang="en-US" sz="3200" dirty="0"/>
          </a:p>
        </p:txBody>
      </p:sp>
      <p:sp>
        <p:nvSpPr>
          <p:cNvPr id="15" name="Text 13"/>
          <p:cNvSpPr/>
          <p:nvPr/>
        </p:nvSpPr>
        <p:spPr>
          <a:xfrm>
            <a:off x="7315200" y="5394960"/>
            <a:ext cx="2286000" cy="82296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clients publics</a:t>
            </a:r>
            <a:endParaRPr lang="en-US" sz="1300" dirty="0"/>
          </a:p>
        </p:txBody>
      </p:sp>
      <p:sp>
        <p:nvSpPr>
          <p:cNvPr id="16" name="Text 14"/>
          <p:cNvSpPr/>
          <p:nvPr/>
        </p:nvSpPr>
        <p:spPr>
          <a:xfrm>
            <a:off x="9144000" y="5394960"/>
            <a:ext cx="1645920" cy="822960"/>
          </a:xfrm>
          <a:prstGeom prst="rect">
            <a:avLst/>
          </a:prstGeom>
          <a:noFill/>
          <a:ln/>
        </p:spPr>
        <p:txBody>
          <a:bodyPr wrap="square" rtlCol="0" anchor="ctr"/>
          <a:lstStyle/>
          <a:p>
            <a:pPr algn="ctr" indent="0" marL="0">
              <a:buNone/>
            </a:pPr>
            <a:r>
              <a:rPr lang="en-US" sz="2800" b="1" dirty="0">
                <a:solidFill>
                  <a:srgbClr val="B41E2C"/>
                </a:solidFill>
                <a:latin typeface="Calibri" pitchFamily="34" charset="0"/>
                <a:ea typeface="Calibri" pitchFamily="34" charset="-122"/>
                <a:cs typeface="Calibri" pitchFamily="34" charset="-120"/>
              </a:rPr>
              <a:t>25 ans</a:t>
            </a:r>
            <a:endParaRPr lang="en-US" sz="2800" dirty="0"/>
          </a:p>
        </p:txBody>
      </p:sp>
      <p:sp>
        <p:nvSpPr>
          <p:cNvPr id="17" name="Text 15"/>
          <p:cNvSpPr/>
          <p:nvPr/>
        </p:nvSpPr>
        <p:spPr>
          <a:xfrm>
            <a:off x="10515600" y="5394960"/>
            <a:ext cx="1371600" cy="82296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d'expertise OSS</a:t>
            </a:r>
            <a:endParaRPr lang="en-US" sz="1300" dirty="0"/>
          </a:p>
        </p:txBody>
      </p:sp>
      <p:sp>
        <p:nvSpPr>
          <p:cNvPr id="25" name="Slide Number Placeholder 0"/>
          <p:cNvSpPr>
            <a:spLocks noGrp="1"/>
          </p:cNvSpPr>
          <p:nvPr>
            <p:ph type="sldNum" sz="quarter" idx="4294967295"/>
          </p:nvPr>
        </p:nvSpPr>
        <p:spPr>
          <a:xfrm>
            <a:off x="11521440" y="6510528"/>
            <a:ext cx="457200" cy="22860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Calibri"/>
                <a:ea typeface="Calibri"/>
                <a:cs typeface="Calibri"/>
              </a:defRPr>
            </a:lvl1pPr>
          </a:lstStyle>
          <a:p>
            <a:pPr algn="l"/>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41E2C"/>
        </a:solidFill>
      </p:bgPr>
    </p:bg>
    <p:spTree>
      <p:nvGrpSpPr>
        <p:cNvPr id="1" name=""/>
        <p:cNvGrpSpPr/>
        <p:nvPr/>
      </p:nvGrpSpPr>
      <p:grpSpPr>
        <a:xfrm>
          <a:off x="0" y="0"/>
          <a:ext cx="0" cy="0"/>
          <a:chOff x="0" y="0"/>
          <a:chExt cx="0" cy="0"/>
        </a:xfrm>
      </p:grpSpPr>
      <p:sp>
        <p:nvSpPr>
          <p:cNvPr id="2" name="Text 0"/>
          <p:cNvSpPr/>
          <p:nvPr/>
        </p:nvSpPr>
        <p:spPr>
          <a:xfrm>
            <a:off x="457200" y="2286000"/>
            <a:ext cx="11277295" cy="9144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Partie II</a:t>
            </a:r>
            <a:endParaRPr lang="en-US" sz="2400" dirty="0"/>
          </a:p>
        </p:txBody>
      </p:sp>
      <p:sp>
        <p:nvSpPr>
          <p:cNvPr id="3" name="Shape 1"/>
          <p:cNvSpPr/>
          <p:nvPr/>
        </p:nvSpPr>
        <p:spPr>
          <a:xfrm>
            <a:off x="5486400" y="3200400"/>
            <a:ext cx="1218895" cy="54864"/>
          </a:xfrm>
          <a:prstGeom prst="rect">
            <a:avLst/>
          </a:prstGeom>
          <a:solidFill>
            <a:srgbClr val="FFFFFF"/>
          </a:solidFill>
          <a:ln/>
        </p:spPr>
      </p:sp>
      <p:sp>
        <p:nvSpPr>
          <p:cNvPr id="4" name="Text 2"/>
          <p:cNvSpPr/>
          <p:nvPr/>
        </p:nvSpPr>
        <p:spPr>
          <a:xfrm>
            <a:off x="457200" y="3383280"/>
            <a:ext cx="11277295" cy="109728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Description de la solution</a:t>
            </a:r>
            <a:endParaRPr lang="en-US" sz="4800" dirty="0"/>
          </a:p>
        </p:txBody>
      </p:sp>
      <p:pic>
        <p:nvPicPr>
          <p:cNvPr id="5" name="Image 0" descr="/home/claude/work/linagora-logo2.png">    </p:cNvPr>
          <p:cNvPicPr>
            <a:picLocks noChangeAspect="1"/>
          </p:cNvPicPr>
          <p:nvPr/>
        </p:nvPicPr>
        <p:blipFill>
          <a:blip r:embed="rId1"/>
          <a:stretch>
            <a:fillRect/>
          </a:stretch>
        </p:blipFill>
        <p:spPr>
          <a:xfrm>
            <a:off x="5394960" y="5943600"/>
            <a:ext cx="1371600" cy="365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286000"/>
            <a:ext cx="11277295" cy="914400"/>
          </a:xfrm>
          <a:prstGeom prst="rect">
            <a:avLst/>
          </a:prstGeom>
          <a:noFill/>
          <a:ln/>
        </p:spPr>
        <p:txBody>
          <a:bodyPr wrap="square" rtlCol="0" anchor="ctr"/>
          <a:lstStyle/>
          <a:p>
            <a:pPr algn="ctr" indent="0" marL="0">
              <a:buNone/>
            </a:pPr>
            <a:r>
              <a:rPr lang="en-US" sz="4400" b="1" dirty="0">
                <a:solidFill>
                  <a:srgbClr val="B41E2C"/>
                </a:solidFill>
                <a:latin typeface="Calibri" pitchFamily="34" charset="0"/>
                <a:ea typeface="Calibri" pitchFamily="34" charset="-122"/>
                <a:cs typeface="Calibri" pitchFamily="34" charset="-120"/>
              </a:rPr>
              <a:t>Merci de votre attention</a:t>
            </a:r>
            <a:endParaRPr lang="en-US" sz="4400" dirty="0"/>
          </a:p>
        </p:txBody>
      </p:sp>
      <p:sp>
        <p:nvSpPr>
          <p:cNvPr id="3" name="Shape 1"/>
          <p:cNvSpPr/>
          <p:nvPr/>
        </p:nvSpPr>
        <p:spPr>
          <a:xfrm>
            <a:off x="5486400" y="3291840"/>
            <a:ext cx="1218895" cy="45720"/>
          </a:xfrm>
          <a:prstGeom prst="rect">
            <a:avLst/>
          </a:prstGeom>
          <a:solidFill>
            <a:srgbClr val="B41E2C"/>
          </a:solidFill>
          <a:ln/>
        </p:spPr>
      </p:sp>
      <p:sp>
        <p:nvSpPr>
          <p:cNvPr id="4" name="Text 2"/>
          <p:cNvSpPr/>
          <p:nvPr/>
        </p:nvSpPr>
        <p:spPr>
          <a:xfrm>
            <a:off x="457200" y="3474720"/>
            <a:ext cx="11277295" cy="548640"/>
          </a:xfrm>
          <a:prstGeom prst="rect">
            <a:avLst/>
          </a:prstGeom>
          <a:noFill/>
          <a:ln/>
        </p:spPr>
        <p:txBody>
          <a:bodyPr wrap="square" rtlCol="0" anchor="ctr"/>
          <a:lstStyle/>
          <a:p>
            <a:pPr algn="ctr" indent="0" marL="0">
              <a:buNone/>
            </a:pPr>
            <a:r>
              <a:rPr lang="en-US" sz="2200" i="1" dirty="0">
                <a:solidFill>
                  <a:srgbClr val="333333"/>
                </a:solidFill>
                <a:latin typeface="Calibri" pitchFamily="34" charset="0"/>
                <a:ea typeface="Calibri" pitchFamily="34" charset="-122"/>
                <a:cs typeface="Calibri" pitchFamily="34" charset="-120"/>
              </a:rPr>
              <a:t>Questions &amp; échanges</a:t>
            </a:r>
            <a:endParaRPr lang="en-US" sz="2200" dirty="0"/>
          </a:p>
        </p:txBody>
      </p:sp>
      <p:sp>
        <p:nvSpPr>
          <p:cNvPr id="5" name="Text 3"/>
          <p:cNvSpPr/>
          <p:nvPr/>
        </p:nvSpPr>
        <p:spPr>
          <a:xfrm>
            <a:off x="457200" y="4572000"/>
            <a:ext cx="11277295" cy="457200"/>
          </a:xfrm>
          <a:prstGeom prst="rect">
            <a:avLst/>
          </a:prstGeom>
          <a:noFill/>
          <a:ln/>
        </p:spPr>
        <p:txBody>
          <a:bodyPr wrap="square" rtlCol="0" anchor="ctr"/>
          <a:lstStyle/>
          <a:p>
            <a:pPr algn="ctr" indent="0" marL="0">
              <a:buNone/>
            </a:pPr>
            <a:r>
              <a:rPr lang="en-US" sz="1600" b="1" dirty="0">
                <a:solidFill>
                  <a:srgbClr val="B41E2C"/>
                </a:solidFill>
                <a:latin typeface="Calibri" pitchFamily="34" charset="0"/>
                <a:ea typeface="Calibri" pitchFamily="34" charset="-122"/>
                <a:cs typeface="Calibri" pitchFamily="34" charset="-120"/>
              </a:rPr>
              <a:t>contact@linagora.com</a:t>
            </a:r>
            <a:pPr algn="ctr" indent="0" marL="0">
              <a:buNone/>
            </a:pPr>
            <a:r>
              <a:rPr lang="en-US" sz="1600" dirty="0">
                <a:solidFill>
                  <a:srgbClr val="888888"/>
                </a:solidFill>
                <a:latin typeface="Calibri" pitchFamily="34" charset="0"/>
                <a:ea typeface="Calibri" pitchFamily="34" charset="-122"/>
                <a:cs typeface="Calibri" pitchFamily="34" charset="-120"/>
              </a:rPr>
              <a:t>   ·   </a:t>
            </a:r>
            <a:pPr algn="ctr" indent="0" marL="0">
              <a:buNone/>
            </a:pPr>
            <a:r>
              <a:rPr lang="en-US" sz="1600" b="1" dirty="0">
                <a:solidFill>
                  <a:srgbClr val="B41E2C"/>
                </a:solidFill>
                <a:latin typeface="Calibri" pitchFamily="34" charset="0"/>
                <a:ea typeface="Calibri" pitchFamily="34" charset="-122"/>
                <a:cs typeface="Calibri" pitchFamily="34" charset="-120"/>
              </a:rPr>
              <a:t>+33 1 46 96 63 63</a:t>
            </a:r>
            <a:pPr algn="ctr" indent="0" marL="0">
              <a:buNone/>
            </a:pPr>
            <a:r>
              <a:rPr lang="en-US" sz="1600" dirty="0">
                <a:solidFill>
                  <a:srgbClr val="888888"/>
                </a:solidFill>
                <a:latin typeface="Calibri" pitchFamily="34" charset="0"/>
                <a:ea typeface="Calibri" pitchFamily="34" charset="-122"/>
                <a:cs typeface="Calibri" pitchFamily="34" charset="-120"/>
              </a:rPr>
              <a:t>   ·   </a:t>
            </a:r>
            <a:pPr algn="ctr" indent="0" marL="0">
              <a:buNone/>
            </a:pPr>
            <a:r>
              <a:rPr lang="en-US" sz="1600" b="1" dirty="0">
                <a:solidFill>
                  <a:srgbClr val="B41E2C"/>
                </a:solidFill>
                <a:latin typeface="Calibri" pitchFamily="34" charset="0"/>
                <a:ea typeface="Calibri" pitchFamily="34" charset="-122"/>
                <a:cs typeface="Calibri" pitchFamily="34" charset="-120"/>
              </a:rPr>
              <a:t>www.linagora.com</a:t>
            </a:r>
            <a:endParaRPr lang="en-US" sz="1600" dirty="0"/>
          </a:p>
        </p:txBody>
      </p:sp>
      <p:sp>
        <p:nvSpPr>
          <p:cNvPr id="25" name="Slide Number Placeholder 0"/>
          <p:cNvSpPr>
            <a:spLocks noGrp="1"/>
          </p:cNvSpPr>
          <p:nvPr>
            <p:ph type="sldNum" sz="quarter" idx="4294967295"/>
          </p:nvPr>
        </p:nvSpPr>
        <p:spPr>
          <a:xfrm>
            <a:off x="11521440" y="6510528"/>
            <a:ext cx="457200" cy="22860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FFFFFF"/>
                </a:solidFill>
                <a:latin typeface="Calibri"/>
                <a:ea typeface="Calibri"/>
                <a:cs typeface="Calibri"/>
              </a:defRPr>
            </a:lvl1pPr>
          </a:lstStyle>
          <a:p>
            <a:pPr algn="l"/>
            <a:fld id="{F7021451-1387-4CA6-816F-3879F97B5CBC}" type="slidenum">
              <a:rPr b="1"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LINAGORA 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Linagora — Présentation</dc:title>
  <dc:subject>PptxGenJS Presentation</dc:subject>
  <dc:creator>LINAGORA</dc:creator>
  <cp:lastModifiedBy>LINAGORA</cp:lastModifiedBy>
  <cp:revision>1</cp:revision>
  <dcterms:created xsi:type="dcterms:W3CDTF">2026-06-01T09:48:33Z</dcterms:created>
  <dcterms:modified xsi:type="dcterms:W3CDTF">2026-06-01T09:48:33Z</dcterms:modified>
</cp:coreProperties>
</file>