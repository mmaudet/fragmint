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47483660" name="Rectangle 214748365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483661" name="Rectangle 214748366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B4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7483662" name="Picture 2147483661" descr="linagora-logo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6492240"/>
            <a:ext cx="1097280" cy="274320"/>
          </a:xfrm>
          <a:prstGeom prst="rect">
            <a:avLst/>
          </a:prstGeom>
        </p:spPr>
      </p:pic>
      <p:sp>
        <p:nvSpPr>
          <p:cNvPr id="2147483663" name="TextBox 2147483662"/>
          <p:cNvSpPr txBox="1"/>
          <p:nvPr/>
        </p:nvSpPr>
        <p:spPr>
          <a:xfrm>
            <a:off x="4114800" y="6510528"/>
            <a:ext cx="4114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FFFFFF"/>
                </a:solidFill>
                <a:latin typeface="Calibri"/>
              </a:rPr>
              <a:t>Distribution non autorisée interdite sans accord écrit.</a:t>
            </a:r>
          </a:p>
        </p:txBody>
      </p:sp>
      <p:sp>
        <p:nvSpPr>
          <p:cNvPr id="2147483664" name="TextBox 2147483663"/>
          <p:cNvSpPr txBox="1"/>
          <p:nvPr/>
        </p:nvSpPr>
        <p:spPr>
          <a:xfrm>
            <a:off x="10058400" y="6510528"/>
            <a:ext cx="182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alibri"/>
              </a:rPr>
              <a:t>LINAGORA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b="1">
          <a:solidFill>
            <a:srgbClr val="B41E2C"/>
          </a:solidFill>
          <a:latin typeface="Calibri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33333"/>
          </a:solidFill>
          <a:latin typeface="Calibri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33333"/>
          </a:solidFill>
          <a:latin typeface="Calibri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Titre de la présentation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333333"/>
                </a:solidFill>
                <a:latin typeface="Calibri"/>
              </a:rPr>
              <a:t>Sous-titre ou description courte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333333"/>
                </a:solidFill>
                <a:latin typeface="Calibri"/>
              </a:rPr>
              <a:t>1. Contexte et objectifs</a:t>
            </a:r>
          </a:p>
          <a:p>
            <a:pPr/>
            <a:r>
              <a:rPr sz="2000">
                <a:solidFill>
                  <a:srgbClr val="333333"/>
                </a:solidFill>
                <a:latin typeface="Calibri"/>
              </a:rPr>
              <a:t>2. LINAGORA, acteur souverain du Logiciel Libre</a:t>
            </a:r>
          </a:p>
          <a:p>
            <a:pPr/>
            <a:r>
              <a:rPr sz="2000">
                <a:solidFill>
                  <a:srgbClr val="333333"/>
                </a:solidFill>
                <a:latin typeface="Calibri"/>
              </a:rPr>
              <a:t>3. Description de la solution</a:t>
            </a:r>
          </a:p>
          <a:p>
            <a:pPr/>
            <a:r>
              <a:rPr sz="2000">
                <a:solidFill>
                  <a:srgbClr val="333333"/>
                </a:solidFill>
                <a:latin typeface="Calibri"/>
              </a:rPr>
              <a:t>4. Offre de service &amp; engagements</a:t>
            </a:r>
          </a:p>
          <a:p>
            <a:pPr/>
            <a:r>
              <a:rPr sz="2000">
                <a:solidFill>
                  <a:srgbClr val="333333"/>
                </a:solidFill>
                <a:latin typeface="Calibri"/>
              </a:rPr>
              <a:t>5. Proposition financière</a:t>
            </a:r>
          </a:p>
          <a:p>
            <a:pPr/>
            <a:r>
              <a:rPr sz="2000">
                <a:solidFill>
                  <a:srgbClr val="333333"/>
                </a:solidFill>
                <a:latin typeface="Calibri"/>
              </a:rPr>
              <a:t>6. Facturation et modalités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Contexte et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</a:t>
            </a:r>
          </a:p>
          <a:p>
            <a:pPr lvl="1"/>
            <a:r>
              <a:t>Premier objectif structurant de l'offre</a:t>
            </a:r>
          </a:p>
          <a:p>
            <a:pPr lvl="1"/>
            <a:r>
              <a:t>Deuxième objectif structurant de l'offre</a:t>
            </a:r>
          </a:p>
          <a:p>
            <a:pPr lvl="1"/>
            <a:r>
              <a:t>Troisième objectif structurant de l'offre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 de la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200" i="1">
                <a:solidFill>
                  <a:srgbClr val="333333"/>
                </a:solidFill>
                <a:latin typeface="Calibri"/>
              </a:rPr>
              <a:t>Partie 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LINAGORA, acteur souverain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 sz="1800">
                <a:solidFill>
                  <a:srgbClr val="B41E2C"/>
                </a:solidFill>
              </a:rPr>
              <a:t>Notre mission</a:t>
            </a:r>
          </a:p>
          <a:p>
            <a:r>
              <a:rPr sz="1400">
                <a:solidFill>
                  <a:srgbClr val="333333"/>
                </a:solidFill>
              </a:rPr>
              <a:t>Proposer aux administrations et entreprises une alternative crédible aux solutions propriétaires, en s'appuyant exclusivement sur des logiciels libres.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 sz="1800">
                <a:solidFill>
                  <a:srgbClr val="B41E2C"/>
                </a:solidFill>
              </a:rPr>
              <a:t>Notre positionnement</a:t>
            </a:r>
          </a:p>
          <a:p>
            <a:r>
              <a:rPr sz="1400">
                <a:solidFill>
                  <a:srgbClr val="333333"/>
                </a:solidFill>
              </a:rPr>
              <a:t>Acteur de référence en matière de souveraineté numérique, accompagnant plus de 150 administrations publiques et grandes entreprises.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Engagements de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80160"/>
            <a:ext cx="0" cy="365760"/>
          </a:xfrm>
        </p:spPr>
        <p:txBody>
          <a:bodyPr/>
          <a:lstStyle/>
          <a:p>
            <a:r>
              <a:rPr i="1" sz="1600">
                <a:solidFill>
                  <a:srgbClr val="888888"/>
                </a:solidFill>
              </a:rPr>
              <a:t>Niveaux de service garantis (SLA)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77295" cy="2286000"/>
        </p:xfrm>
        <a:graphic>
          <a:graphicData uri="http://schemas.openxmlformats.org/drawingml/2006/table">
            <a:tbl>
              <a:tblPr firstRow="0" bandRow="0"/>
              <a:tblGrid>
                <a:gridCol w="2819323"/>
                <a:gridCol w="2819323"/>
                <a:gridCol w="2819323"/>
                <a:gridCol w="2819326"/>
              </a:tblGrid>
              <a:tr h="5715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>
                    <a:solidFill>
                      <a:srgbClr val="B41E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Prise en charge</a:t>
                      </a:r>
                    </a:p>
                  </a:txBody>
                  <a:tcPr>
                    <a:solidFill>
                      <a:srgbClr val="B41E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Résolution</a:t>
                      </a:r>
                    </a:p>
                  </a:txBody>
                  <a:tcPr>
                    <a:solidFill>
                      <a:srgbClr val="B41E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Pénalité</a:t>
                      </a:r>
                    </a:p>
                  </a:txBody>
                  <a:tcPr>
                    <a:solidFill>
                      <a:srgbClr val="B41E2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41E2C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30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8 heures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5 % du CA mensuel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41E2C"/>
                          </a:solidFill>
                          <a:latin typeface="Calibri"/>
                        </a:rPr>
                        <a:t>Majeur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 heures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24 heures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2 % du CA mensuel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41E2C"/>
                          </a:solidFill>
                          <a:latin typeface="Calibri"/>
                        </a:rPr>
                        <a:t>Mineur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8 heures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72 heures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Aucune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Merci de votre 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333333"/>
                </a:solidFill>
                <a:latin typeface="Calibri"/>
              </a:rPr>
              <a:t>Questions &amp; échanges</a:t>
            </a:r>
          </a:p>
          <a:p>
            <a:r>
              <a:rPr sz="2000">
                <a:solidFill>
                  <a:srgbClr val="333333"/>
                </a:solidFill>
                <a:latin typeface="Calibri"/>
              </a:rPr>
              <a:t>contact@linagora.com  ·  +33 1 46 96 63 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